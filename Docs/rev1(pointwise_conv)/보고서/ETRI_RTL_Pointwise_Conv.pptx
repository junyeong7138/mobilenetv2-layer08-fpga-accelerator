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60" r:id="rId1"/>
  </p:sldMasterIdLst>
  <p:notesMasterIdLst>
    <p:notesMasterId r:id="rId25"/>
  </p:notesMasterIdLst>
  <p:handoutMasterIdLst>
    <p:handoutMasterId r:id="rId26"/>
  </p:handoutMasterIdLst>
  <p:sldIdLst>
    <p:sldId id="256" r:id="rId2"/>
    <p:sldId id="609" r:id="rId3"/>
    <p:sldId id="844" r:id="rId4"/>
    <p:sldId id="854" r:id="rId5"/>
    <p:sldId id="868" r:id="rId6"/>
    <p:sldId id="861" r:id="rId7"/>
    <p:sldId id="862" r:id="rId8"/>
    <p:sldId id="870" r:id="rId9"/>
    <p:sldId id="872" r:id="rId10"/>
    <p:sldId id="873" r:id="rId11"/>
    <p:sldId id="874" r:id="rId12"/>
    <p:sldId id="875" r:id="rId13"/>
    <p:sldId id="876" r:id="rId14"/>
    <p:sldId id="877" r:id="rId15"/>
    <p:sldId id="878" r:id="rId16"/>
    <p:sldId id="863" r:id="rId17"/>
    <p:sldId id="847" r:id="rId18"/>
    <p:sldId id="871" r:id="rId19"/>
    <p:sldId id="879" r:id="rId20"/>
    <p:sldId id="880" r:id="rId21"/>
    <p:sldId id="851" r:id="rId22"/>
    <p:sldId id="852" r:id="rId23"/>
    <p:sldId id="866" r:id="rId24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>
          <p15:clr>
            <a:srgbClr val="A4A3A4"/>
          </p15:clr>
        </p15:guide>
        <p15:guide id="2" pos="38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TxStyle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TxStyle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9" autoAdjust="0"/>
    <p:restoredTop sz="87535" autoAdjust="0"/>
  </p:normalViewPr>
  <p:slideViewPr>
    <p:cSldViewPr>
      <p:cViewPr varScale="1">
        <p:scale>
          <a:sx n="164" d="100"/>
          <a:sy n="164" d="100"/>
        </p:scale>
        <p:origin x="1288" y="168"/>
      </p:cViewPr>
      <p:guideLst>
        <p:guide orient="horz" pos="2156"/>
        <p:guide pos="3836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06" d="100"/>
          <a:sy n="106" d="100"/>
        </p:scale>
        <p:origin x="259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2A425A70-5908-4F26-95C5-87BC94421A41}" type="datetime1">
              <a:rPr lang="ko-KR" altLang="en-US" smtClean="0"/>
              <a:t>2026. 8. 3.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11CC53CC-49FF-4CD2-A4C1-1F15E1088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980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3AC3A17A-95E8-4381-B66B-5D6DE2B3048A}" type="datetime1">
              <a:rPr lang="en-US" smtClean="0"/>
              <a:pPr lvl="0"/>
              <a:t>8/3/26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14B3E-E843-E202-5DF6-C469FB569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76E53CF2-27E6-EBD8-C241-ABC295C4A2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9E04527F-BDAA-A69D-E334-5FF11D2402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6CE74-B128-26FC-81F8-5D14C6B953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2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337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F84B3-F0CD-8E7D-65DB-871A2CD25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AD8366B9-1239-4D1A-1DD5-9FC7E0BDFD9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8F390B1F-CD66-61C3-AD7F-A5D1E6820A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214C3-B82C-E290-8800-3CC02E7065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4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755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3663A-1EEF-B427-3206-9AE5897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0433F67C-017A-9FA4-AA70-10E2B5F74C3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51C1624D-A704-39CA-2EB2-B2D057A492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77BAC-8F88-09BE-2923-FF0D2C067B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5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283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3F9F3-295B-EFA0-F1CC-3E4915BC2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68C3E41C-A469-E8FD-A06A-4ABAE465A5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F6BE19D8-5C7E-9F25-3BBB-A97822E3D8B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5CD69-2FE6-7053-792C-1A6222183D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7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408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41F92-4922-2C0B-C4FA-ACA514106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4BE574F3-C8C9-E6C2-83CF-DC1317E05C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61E58748-66C4-1C6F-C796-AF024036A5D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B4448-A5E0-BA16-FCDF-AD487BCEA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8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946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1FCC9-91C5-E179-6A56-3E8D44C02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0DA62FC7-FD2A-A51E-3C42-1A0BA0DF85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978D759F-528F-7AAF-0079-EB09D53929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DE302-9D68-B8F7-2A48-6C39B3DB4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9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799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FD0BE-AB85-0297-F326-963578C09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D89156E3-7198-7E67-B769-7837606E35E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69AAD08D-F715-FC85-FDCD-E83DF4FE92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239F8-45F3-16F1-B618-F9EFABA802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10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844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D3A5F-3CDD-9E8B-E6D8-01A1338FE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6A31CD59-6C03-6F72-7611-1C64E89D222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9ADFCA68-1F9A-9982-E28A-FE0548204F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49EC6-E867-33AB-1C84-E6F9F864E7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11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3335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4C0CD-DE4C-F95A-5D30-196454DC7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EA59F8B8-00E9-07DE-7A3C-DDB52A5FF19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FE384B46-0F0E-EC27-6EB5-0979C4CF237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DBFE4-A69F-00F0-459B-EF1A069070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12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775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77BA1-7EDE-759B-1AF4-F6881ABD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D53F08C6-20AA-61FF-7D22-A0475CB6FB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D00A71AA-1147-E0A0-464A-CAF982BE750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08BDC-9D6F-D6BD-B3E3-8B98E3113C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13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4997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8E961-4A4E-93F8-04F4-AEB4F2F49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09AADFE3-175E-80EC-8D42-3CE5F699F48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27A649A9-972B-FB25-7A90-16C13158BE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7C985-05CE-7691-F3FF-2721921CD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14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9566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4FA63-AFC4-EE6A-FB74-FCFAF926A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9437447C-4589-F131-AE32-DF09015805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F1ED2A06-D932-8BE3-6D9C-49701173A3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F2462-A026-5C9D-9061-C9A5F1EAE2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15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4502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09D47-DA68-E9FE-AC1E-E6BC4BD32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0D360901-E815-06C3-C3CC-E3A34380F7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82A63CD0-AC9A-356D-32D9-AAAFD56F02F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0DA8B-7585-0E95-18C8-4142FDA56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17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0358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B8881-2BC1-EB58-7DC3-B0FAF0E3D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98AC4281-175D-6FDA-5A82-F801CDB967A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A38B2454-070B-7EF2-9F4C-FC958221BE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6B0E9-6A26-152A-D327-72B51ECBBE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18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1842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FB6A4-22E8-ECDC-E085-55C2F34FA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99697C3C-0ED5-A897-3A17-7DF86CBCF15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01D37C06-4DF2-33C6-FDAE-13D306E74D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EF599-0884-38B6-1E6E-80BDF7BD5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19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4215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55455-A2FE-10E4-A240-F0CA208CE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6A8A049D-A08A-C139-3A86-FAEE60E720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035F3341-64A7-8527-4062-867598157F9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FD2D0-6796-EE8D-4EEE-D7F47B971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20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0042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3C205-7A64-2B47-0DEC-1020282C8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8EDE80CD-3EB9-BBF2-AA04-F50FBB901C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0BFCDCB5-0A34-81B8-01F1-DCEC59C8FB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162A6-50FC-F948-C9DD-4AE8E3C3B4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22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392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3B6732A1-8A50-42D0-9FB5-A7CC4F887D83}" type="datetime1">
              <a:rPr lang="en-US" smtClean="0"/>
              <a:t>8/3/26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>
            <a:lvl1pPr algn="l" eaLnBrk="1" latinLnBrk="0" hangingPunct="1">
              <a:defRPr/>
            </a:lvl1pPr>
          </a:lstStyle>
          <a:p>
            <a:fld id="{EA7C8D44-3667-46F6-9772-CC52308E2A7F}" type="slidenum">
              <a:rPr kumimoji="0" lang="en-US" altLang="ko-KR" smtClean="0"/>
              <a:pPr/>
              <a:t>‹#›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4B809B3-6A2C-46CF-98AB-C7B45372B065}" type="datetime1">
              <a:rPr lang="en-US" smtClean="0"/>
              <a:t>8/3/26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 eaLnBrk="1" latinLnBrk="0" hangingPunct="1">
              <a:defRPr/>
            </a:lvl1pPr>
          </a:lstStyle>
          <a:p>
            <a:fld id="{EA7C8D44-3667-46F6-9772-CC52308E2A7F}" type="slidenum">
              <a:rPr kumimoji="0" lang="en-US" altLang="ko-KR" smtClean="0"/>
              <a:pPr/>
              <a:t>‹#›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B6E7DE3-0B23-E13C-D5C3-E816B547CF7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90401" y="1143550"/>
            <a:ext cx="3491999" cy="5212800"/>
          </a:xfrm>
        </p:spPr>
        <p:txBody>
          <a:bodyPr/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C191117F-3CD7-4767-AEE5-49A060274EAA}" type="datetime1">
              <a:rPr lang="en-US" smtClean="0"/>
              <a:t>8/3/26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7B8C5CE-9DF7-4BB4-863A-6E277DDC03D4}" type="datetime1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EE11402-9D83-40E7-9253-0548CE63EB94}" type="datetime1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0C8811-C7DA-4658-BB60-F635F9220CDF}" type="datetime1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EB38FCF-5E28-44CB-A212-D3E75CA77D8D}" type="datetime1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EB38FCF-5E28-44CB-A212-D3E75CA77D8D}" type="datetime1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20">
            <a:extLst>
              <a:ext uri="{FF2B5EF4-FFF2-40B4-BE49-F238E27FC236}">
                <a16:creationId xmlns:a16="http://schemas.microsoft.com/office/drawing/2014/main" id="{87304C28-C59A-53AE-DBAE-00214F015465}"/>
              </a:ext>
            </a:extLst>
          </p:cNvPr>
          <p:cNvSpPr/>
          <p:nvPr userDrawn="1"/>
        </p:nvSpPr>
        <p:spPr>
          <a:xfrm>
            <a:off x="1831828" y="48006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21">
            <a:extLst>
              <a:ext uri="{FF2B5EF4-FFF2-40B4-BE49-F238E27FC236}">
                <a16:creationId xmlns:a16="http://schemas.microsoft.com/office/drawing/2014/main" id="{6A7617F0-DAAC-D6CF-937C-AF7C6E118A29}"/>
              </a:ext>
            </a:extLst>
          </p:cNvPr>
          <p:cNvSpPr/>
          <p:nvPr userDrawn="1"/>
        </p:nvSpPr>
        <p:spPr>
          <a:xfrm>
            <a:off x="1831828" y="48006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6E507345-1F26-263D-A18E-393A6D4A4158}"/>
              </a:ext>
            </a:extLst>
          </p:cNvPr>
          <p:cNvSpPr txBox="1">
            <a:spLocks/>
          </p:cNvSpPr>
          <p:nvPr userDrawn="1"/>
        </p:nvSpPr>
        <p:spPr>
          <a:xfrm>
            <a:off x="2323343" y="4945380"/>
            <a:ext cx="9144000" cy="990600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F09B2124-2D3E-5E0F-B5AE-AD7829DDD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3343" y="4984896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5990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55FE7C6-0DE5-4400-A2DD-37AB2CB98797}" type="datetime1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312819A-A7E0-496A-9C6B-0FBBF375D97B}" type="datetime1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32F6112-2530-4960-AA07-04E672D1E722}" type="datetime1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96A6EFF-8172-426D-9AC7-B0DD95EEE533}" type="datetime1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470973"/>
            <a:ext cx="1063524" cy="304168"/>
          </a:xfrm>
          <a:prstGeom prst="rect">
            <a:avLst/>
          </a:prstGeom>
        </p:spPr>
      </p:pic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0259BA2E-082A-4ACD-AA34-4B617DF5D259}" type="datetime1">
              <a:rPr lang="en-US" smtClean="0"/>
              <a:t>8/3/26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2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gif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5181600"/>
            <a:ext cx="9144000" cy="533400"/>
          </a:xfrm>
        </p:spPr>
        <p:txBody>
          <a:bodyPr/>
          <a:lstStyle/>
          <a:p>
            <a:r>
              <a:rPr lang="en-US" altLang="ko-KR" dirty="0"/>
              <a:t>2026.08.03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월</a:t>
            </a:r>
            <a:r>
              <a:rPr lang="en-US" altLang="ko-KR" dirty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1828801"/>
            <a:ext cx="96011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600" b="1" dirty="0">
                <a:solidFill>
                  <a:srgbClr val="C00000"/>
                </a:solidFill>
              </a:rPr>
              <a:t>Systolic Array Based</a:t>
            </a:r>
            <a:r>
              <a:rPr lang="ko-KR" altLang="en-US" sz="3600" b="1" dirty="0">
                <a:solidFill>
                  <a:srgbClr val="C00000"/>
                </a:solidFill>
              </a:rPr>
              <a:t> </a:t>
            </a:r>
            <a:r>
              <a:rPr lang="en-US" altLang="ko-KR" sz="3600" b="1" dirty="0">
                <a:solidFill>
                  <a:srgbClr val="C00000"/>
                </a:solidFill>
              </a:rPr>
              <a:t>Pointwise Conv. Design</a:t>
            </a:r>
          </a:p>
          <a:p>
            <a:pPr algn="r"/>
            <a:r>
              <a:rPr lang="en-US" altLang="ko-KR" sz="2000" b="1" dirty="0">
                <a:solidFill>
                  <a:srgbClr val="C00000"/>
                </a:solidFill>
              </a:rPr>
              <a:t>MobileNetV2 Layer08 </a:t>
            </a:r>
            <a:r>
              <a:rPr lang="ko-KR" altLang="en-US" sz="2000" b="1" dirty="0">
                <a:solidFill>
                  <a:srgbClr val="C00000"/>
                </a:solidFill>
              </a:rPr>
              <a:t>가속기 </a:t>
            </a:r>
            <a:r>
              <a:rPr lang="en-US" altLang="ko-KR" sz="2000" b="1" dirty="0">
                <a:solidFill>
                  <a:srgbClr val="C00000"/>
                </a:solidFill>
              </a:rPr>
              <a:t>1</a:t>
            </a:r>
            <a:r>
              <a:rPr lang="ko-KR" altLang="en-US" sz="2000" b="1" dirty="0">
                <a:solidFill>
                  <a:srgbClr val="C00000"/>
                </a:solidFill>
              </a:rPr>
              <a:t>단계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625600" y="3810000"/>
            <a:ext cx="9144000" cy="990600"/>
          </a:xfrm>
        </p:spPr>
        <p:txBody>
          <a:bodyPr>
            <a:noAutofit/>
          </a:bodyPr>
          <a:lstStyle/>
          <a:p>
            <a:r>
              <a:rPr lang="ko-KR" altLang="en-US" sz="2000" dirty="0"/>
              <a:t>박준영</a:t>
            </a:r>
            <a:br>
              <a:rPr lang="en-US" altLang="ko-KR" sz="2000" dirty="0"/>
            </a:br>
            <a:r>
              <a:rPr lang="en-US" altLang="ko-KR" sz="2000" dirty="0"/>
              <a:t>ETRI RTL</a:t>
            </a:r>
            <a:r>
              <a:rPr lang="ko-KR" altLang="en-US" sz="2000" dirty="0"/>
              <a:t> 교육 과정</a:t>
            </a:r>
            <a:br>
              <a:rPr lang="en-US" altLang="ko-KR" sz="2000" dirty="0"/>
            </a:br>
            <a:r>
              <a:rPr lang="en-US" altLang="ko-KR" sz="2000" dirty="0" err="1"/>
              <a:t>korea.junyeong@gmail.com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2763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0E84F-8B2F-A109-A419-300BB4A7C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67F6E79D-03E5-4EF2-8F25-1FB9DC721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F94A1A67-0F80-DAC8-4108-65AFBF5CCD0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1.</a:t>
            </a:r>
            <a:r>
              <a:rPr lang="ko-KR" altLang="en-US" dirty="0">
                <a:ea typeface="굴림" panose="020B0600000101010101" pitchFamily="50" charset="-127"/>
              </a:rPr>
              <a:t> 개요</a:t>
            </a:r>
            <a:endParaRPr lang="en-US" altLang="ko-KR" dirty="0">
              <a:ea typeface="굴림" panose="020B0600000101010101" pitchFamily="50" charset="-127"/>
            </a:endParaRPr>
          </a:p>
          <a:p>
            <a:endParaRPr lang="en-US" altLang="ko-KR" dirty="0">
              <a:ea typeface="굴림" panose="020B0600000101010101" pitchFamily="50" charset="-127"/>
            </a:endParaRPr>
          </a:p>
          <a:p>
            <a:r>
              <a:rPr lang="en-US" altLang="ko-KR" dirty="0">
                <a:ea typeface="굴림" panose="020B0600000101010101" pitchFamily="50" charset="-127"/>
              </a:rPr>
              <a:t>2.</a:t>
            </a:r>
            <a:r>
              <a:rPr lang="ko-KR" altLang="en-US" dirty="0">
                <a:ea typeface="굴림" panose="020B0600000101010101" pitchFamily="50" charset="-127"/>
              </a:rPr>
              <a:t> 설계</a:t>
            </a:r>
            <a:endParaRPr lang="en-US" altLang="ko-KR" dirty="0">
              <a:ea typeface="굴림" panose="020B0600000101010101" pitchFamily="50" charset="-127"/>
            </a:endParaRPr>
          </a:p>
          <a:p>
            <a:pPr marL="0" indent="0">
              <a:buNone/>
            </a:pPr>
            <a:endParaRPr lang="en-US" altLang="ko-KR" dirty="0">
              <a:ea typeface="굴림" panose="020B0600000101010101" pitchFamily="50" charset="-127"/>
            </a:endParaRPr>
          </a:p>
          <a:p>
            <a:r>
              <a:rPr lang="en-US" altLang="ko-KR" dirty="0">
                <a:ea typeface="굴림" panose="020B0600000101010101" pitchFamily="50" charset="-127"/>
              </a:rPr>
              <a:t>3.</a:t>
            </a:r>
            <a:r>
              <a:rPr lang="ko-KR" altLang="en-US" dirty="0">
                <a:ea typeface="굴림" panose="020B0600000101010101" pitchFamily="50" charset="-127"/>
              </a:rPr>
              <a:t> 검증</a:t>
            </a:r>
            <a:endParaRPr lang="en-US" altLang="ko-KR" dirty="0">
              <a:ea typeface="굴림" panose="020B0600000101010101" pitchFamily="50" charset="-127"/>
            </a:endParaRPr>
          </a:p>
          <a:p>
            <a:pPr marL="0" indent="0">
              <a:buNone/>
            </a:pPr>
            <a:endParaRPr lang="en-US" altLang="ko-KR" dirty="0">
              <a:ea typeface="굴림" panose="020B0600000101010101" pitchFamily="50" charset="-127"/>
            </a:endParaRPr>
          </a:p>
          <a:p>
            <a:r>
              <a:rPr lang="en-US" altLang="ko-KR" dirty="0">
                <a:ea typeface="굴림" panose="020B0600000101010101" pitchFamily="50" charset="-127"/>
              </a:rPr>
              <a:t>4.</a:t>
            </a:r>
            <a:r>
              <a:rPr lang="ko-KR" altLang="en-US" dirty="0">
                <a:ea typeface="굴림" panose="020B0600000101010101" pitchFamily="50" charset="-127"/>
              </a:rPr>
              <a:t> 고찰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77883F2C-BF85-A492-3DDD-7F746C9B9974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E520B06-5F22-62B2-E19B-4827291AB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2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B7A595B-869C-E41A-B5D6-CA431946FD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320" y="6432550"/>
            <a:ext cx="1862034" cy="4254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F732790-09E1-7819-76D4-1300625317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33" y="6432550"/>
            <a:ext cx="1134533" cy="42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4215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B3B16C48-EA88-152F-7DB5-AB55C9AC4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AF6BC3A-7CC6-3892-3BC1-A72E97B1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3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C239386-E49E-E418-AE37-1F4F22E402B2}"/>
              </a:ext>
            </a:extLst>
          </p:cNvPr>
          <p:cNvSpPr txBox="1">
            <a:spLocks/>
          </p:cNvSpPr>
          <p:nvPr/>
        </p:nvSpPr>
        <p:spPr>
          <a:xfrm>
            <a:off x="2362200" y="2209800"/>
            <a:ext cx="7467600" cy="1930399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 algn="ctr">
              <a:buAutoNum type="arabicPeriod"/>
            </a:pPr>
            <a:r>
              <a:rPr lang="ko-KR" altLang="en-US" sz="4400" dirty="0">
                <a:solidFill>
                  <a:schemeClr val="tx1"/>
                </a:solidFill>
              </a:rPr>
              <a:t>개요</a:t>
            </a:r>
            <a:endParaRPr lang="en-US" altLang="ko-KR" sz="4400" dirty="0">
              <a:solidFill>
                <a:schemeClr val="tx1"/>
              </a:solidFill>
            </a:endParaRPr>
          </a:p>
          <a:p>
            <a:pPr marL="514350" indent="-514350" algn="ctr">
              <a:buAutoNum type="arabicPeriod"/>
            </a:pPr>
            <a:endParaRPr lang="en-US" altLang="ko-KR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DA2F475-4870-8CE5-5439-85229D7E3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320" y="6432550"/>
            <a:ext cx="1862034" cy="4254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CB7290E-B4A0-3E59-B364-2DF438773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33" y="6432550"/>
            <a:ext cx="1134533" cy="42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885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067A4-D658-984F-D29D-A46031C11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50C50738-04DA-5685-493C-34D1AA58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1.</a:t>
            </a:r>
            <a:r>
              <a:rPr lang="ko-KR" altLang="en-US" dirty="0">
                <a:ea typeface="굴림" panose="020B0600000101010101" pitchFamily="50" charset="-127"/>
              </a:rPr>
              <a:t> 개요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62B48C88-65A4-D89E-188D-73E8987CD77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Layer 08</a:t>
            </a:r>
            <a:r>
              <a:rPr lang="ko-KR" altLang="en-US" dirty="0">
                <a:ea typeface="굴림" panose="020B0600000101010101" pitchFamily="50" charset="-127"/>
              </a:rPr>
              <a:t>이란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5351FBBD-D1E9-06F8-631A-C01641B16DBC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3B2F5AD-F832-D580-5ACB-61A9A8919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4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9396F2-6D4F-EFB1-87B1-0719B71D50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320" y="6432550"/>
            <a:ext cx="1862034" cy="425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0E1FBC8-4B20-2E27-F4DC-E9DF199D7E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33" y="6432550"/>
            <a:ext cx="1134533" cy="4254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66163F8-76E5-ADA9-5DFC-8D356370B9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051" y="1942327"/>
            <a:ext cx="6477898" cy="420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05947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2C732-C5F0-2826-98C1-E2CA14E6A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D1740A5B-5D22-5CE5-514A-C6F6CAD7C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1.</a:t>
            </a:r>
            <a:r>
              <a:rPr lang="ko-KR" altLang="en-US" dirty="0">
                <a:ea typeface="굴림" panose="020B0600000101010101" pitchFamily="50" charset="-127"/>
              </a:rPr>
              <a:t> 개요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CDB0669A-0978-0A5F-1F1F-0FE7D1DAAC6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>
                <a:ea typeface="굴림" panose="020B0600000101010101" pitchFamily="50" charset="-127"/>
              </a:rPr>
              <a:t>문제 정의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B57A6252-8BFA-C6EB-AA41-5132AD81F925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F124EBD-F670-9505-5AC4-E225A4A85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5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55448B2-8801-C9B4-C9A6-F29578B056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320" y="6432550"/>
            <a:ext cx="1862034" cy="425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E510919-E43E-29CA-EB6A-C1FD802EAD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33" y="6432550"/>
            <a:ext cx="1134533" cy="425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35F195-02DE-C147-7F77-16210F1F32BE}"/>
              </a:ext>
            </a:extLst>
          </p:cNvPr>
          <p:cNvSpPr txBox="1"/>
          <p:nvPr/>
        </p:nvSpPr>
        <p:spPr>
          <a:xfrm>
            <a:off x="918464" y="3099896"/>
            <a:ext cx="243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입력</a:t>
            </a:r>
            <a:endParaRPr lang="en-US" altLang="ko-KR" sz="2400" b="1" dirty="0"/>
          </a:p>
          <a:p>
            <a:pPr algn="ctr"/>
            <a:r>
              <a:rPr lang="en-US" altLang="ko-KR" sz="2400" b="1" dirty="0"/>
              <a:t>64ch x 14 x 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7252D0-CE1B-3DA5-C5DE-86FE7849D2E6}"/>
              </a:ext>
            </a:extLst>
          </p:cNvPr>
          <p:cNvSpPr txBox="1"/>
          <p:nvPr/>
        </p:nvSpPr>
        <p:spPr>
          <a:xfrm>
            <a:off x="4267200" y="3099896"/>
            <a:ext cx="243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가중치</a:t>
            </a:r>
            <a:endParaRPr lang="en-US" altLang="ko-KR" sz="2400" b="1" dirty="0"/>
          </a:p>
          <a:p>
            <a:pPr algn="ctr"/>
            <a:r>
              <a:rPr lang="en-US" altLang="ko-KR" sz="2400" b="1" dirty="0"/>
              <a:t>64ch x 384f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D4BEB-23C3-FEAD-232F-88050046AC79}"/>
              </a:ext>
            </a:extLst>
          </p:cNvPr>
          <p:cNvSpPr txBox="1"/>
          <p:nvPr/>
        </p:nvSpPr>
        <p:spPr>
          <a:xfrm>
            <a:off x="7615936" y="3099896"/>
            <a:ext cx="243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단순 순차</a:t>
            </a:r>
            <a:endParaRPr lang="en-US" altLang="ko-KR" sz="2400" b="1" dirty="0"/>
          </a:p>
          <a:p>
            <a:pPr algn="ctr"/>
            <a:r>
              <a:rPr lang="en-US" altLang="ko-KR" sz="2400" b="1" dirty="0"/>
              <a:t>482</a:t>
            </a:r>
            <a:r>
              <a:rPr lang="ko-KR" altLang="en-US" sz="2400" b="1" dirty="0"/>
              <a:t>만 </a:t>
            </a:r>
            <a:r>
              <a:rPr lang="en-US" altLang="ko-KR" sz="2400" b="1" dirty="0"/>
              <a:t>MAC</a:t>
            </a:r>
          </a:p>
        </p:txBody>
      </p:sp>
    </p:spTree>
    <p:extLst>
      <p:ext uri="{BB962C8B-B14F-4D97-AF65-F5344CB8AC3E}">
        <p14:creationId xmlns:p14="http://schemas.microsoft.com/office/powerpoint/2010/main" val="112850479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A5582-5F0E-540C-267E-5EEA7440B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04825A9B-A39C-6B2C-0ACF-3AFD872A0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F15E2AE-E25A-88A7-7B26-07B97B3C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6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24846C0-8F01-8E2C-73D6-F27331AE467F}"/>
              </a:ext>
            </a:extLst>
          </p:cNvPr>
          <p:cNvSpPr txBox="1">
            <a:spLocks/>
          </p:cNvSpPr>
          <p:nvPr/>
        </p:nvSpPr>
        <p:spPr>
          <a:xfrm>
            <a:off x="2362200" y="2209800"/>
            <a:ext cx="7467600" cy="1930399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2.</a:t>
            </a:r>
            <a:r>
              <a:rPr lang="ko-KR" altLang="en-US" sz="4400" dirty="0">
                <a:solidFill>
                  <a:schemeClr val="tx1"/>
                </a:solidFill>
              </a:rPr>
              <a:t> 설계</a:t>
            </a:r>
            <a:endParaRPr lang="en-US" altLang="ko-KR" sz="4400" dirty="0">
              <a:solidFill>
                <a:schemeClr val="tx1"/>
              </a:solidFill>
            </a:endParaRPr>
          </a:p>
          <a:p>
            <a:pPr marL="514350" indent="-514350" algn="ctr">
              <a:buAutoNum type="arabicPeriod"/>
            </a:pPr>
            <a:endParaRPr lang="en-US" altLang="ko-KR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16F17CC-3BB8-9023-F9D6-28776008C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320" y="6432550"/>
            <a:ext cx="1862034" cy="4254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426987A-4DD2-86CB-97E9-F7FC7CC3F8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33" y="6432550"/>
            <a:ext cx="1134533" cy="42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06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2C175-80C1-1C16-6529-6478654A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91CC7369-84A8-3BB5-AF0E-4F0A352E8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2.</a:t>
            </a:r>
            <a:r>
              <a:rPr lang="ko-KR" altLang="en-US" dirty="0">
                <a:ea typeface="굴림" panose="020B0600000101010101" pitchFamily="50" charset="-127"/>
              </a:rPr>
              <a:t> 설계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858EA5AF-9B02-E74E-C2CD-B2B211C278F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>
                <a:ea typeface="굴림" panose="020B0600000101010101" pitchFamily="50" charset="-127"/>
              </a:rPr>
              <a:t>전체 </a:t>
            </a:r>
            <a:r>
              <a:rPr lang="ko-KR" altLang="en-US" dirty="0" err="1">
                <a:ea typeface="굴림" panose="020B0600000101010101" pitchFamily="50" charset="-127"/>
              </a:rPr>
              <a:t>블럭</a:t>
            </a:r>
            <a:r>
              <a:rPr lang="ko-KR" altLang="en-US" dirty="0">
                <a:ea typeface="굴림" panose="020B0600000101010101" pitchFamily="50" charset="-127"/>
              </a:rPr>
              <a:t> 다이어그램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90F030D0-262C-5796-CEE3-E31E1FE366B1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4BD8A69-6388-2009-0101-D4D6EA38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7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5ED80FC-708C-685F-F156-E9C20E0947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320" y="6432550"/>
            <a:ext cx="1862034" cy="425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27BA07C-24AA-B15E-053F-3301177D30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33" y="6432550"/>
            <a:ext cx="1134533" cy="425450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165AF9DE-87CB-95AB-BE91-F399497D89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434" y="2097942"/>
            <a:ext cx="11517131" cy="356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92200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9C7E0-C035-2B65-1263-3C716B2D1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8283A6E1-CB60-E89D-8DEB-90B8828C4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2.</a:t>
            </a:r>
            <a:r>
              <a:rPr lang="ko-KR" altLang="en-US" dirty="0">
                <a:ea typeface="굴림" panose="020B0600000101010101" pitchFamily="50" charset="-127"/>
              </a:rPr>
              <a:t> 설계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7B866555-9A41-9451-A208-D592EA6807C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Systolic</a:t>
            </a:r>
            <a:r>
              <a:rPr lang="ko-KR" altLang="en-US" dirty="0">
                <a:ea typeface="굴림" panose="020B0600000101010101" pitchFamily="50" charset="-127"/>
              </a:rPr>
              <a:t> </a:t>
            </a:r>
            <a:r>
              <a:rPr lang="en-US" altLang="ko-KR" dirty="0">
                <a:ea typeface="굴림" panose="020B0600000101010101" pitchFamily="50" charset="-127"/>
              </a:rPr>
              <a:t>Array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EE37D102-B13D-591C-2B21-99C89B3A2D95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C75F414-6C9E-1F0F-C911-965D69A3C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8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625FDF-25A5-191A-0FAB-B8968DB0DD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320" y="6432550"/>
            <a:ext cx="1862034" cy="425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E1895F5-72E2-4E8A-1FC5-EB6D3184A3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33" y="6432550"/>
            <a:ext cx="1134533" cy="425450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A44D1F0C-B718-2D99-EEB9-9CDE9C163E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98213" y="1312183"/>
            <a:ext cx="6595574" cy="487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85945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4D353-8C87-9C03-0F7F-2390902E6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42F8A123-D57D-187B-D066-A3BE23D5D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2.</a:t>
            </a:r>
            <a:r>
              <a:rPr lang="ko-KR" altLang="en-US" dirty="0">
                <a:ea typeface="굴림" panose="020B0600000101010101" pitchFamily="50" charset="-127"/>
              </a:rPr>
              <a:t> 설계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6E034E24-353C-B4F2-0A47-5A77D4FFC94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>
                <a:ea typeface="굴림" panose="020B0600000101010101" pitchFamily="50" charset="-127"/>
              </a:rPr>
              <a:t>가중치 재정렬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73DC84A4-B1AD-D896-0352-78B7AEB81F85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D1A775D-23AA-6D1F-1945-9B4280D83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9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24F8828-3B90-AD47-6F2F-54E4DB8D85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320" y="6432550"/>
            <a:ext cx="1862034" cy="425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02AA517-091A-85CA-BFED-B2AD7B6B95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33" y="6432550"/>
            <a:ext cx="1134533" cy="425450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4789975E-D0F6-C466-5D8F-AC54339954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3656" y="2133600"/>
            <a:ext cx="11284688" cy="29083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CD02D4A-E47A-EF9B-97FF-7814A1BB9B1F}"/>
              </a:ext>
            </a:extLst>
          </p:cNvPr>
          <p:cNvSpPr/>
          <p:nvPr/>
        </p:nvSpPr>
        <p:spPr>
          <a:xfrm>
            <a:off x="397764" y="2439895"/>
            <a:ext cx="2802636" cy="684305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76152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29D4C-96F8-9BA2-83DB-DCC8DA932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C13D080A-9482-6CB7-3B51-F4A7915AD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2.</a:t>
            </a:r>
            <a:r>
              <a:rPr lang="ko-KR" altLang="en-US" dirty="0">
                <a:ea typeface="굴림" panose="020B0600000101010101" pitchFamily="50" charset="-127"/>
              </a:rPr>
              <a:t> 설계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5FCA53C1-25E2-AF17-6A3C-6EB3B8D0E50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>
                <a:ea typeface="굴림" panose="020B0600000101010101" pitchFamily="50" charset="-127"/>
              </a:rPr>
              <a:t>가중치 재정렬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495B21BF-0491-B6D9-AE21-C6F3E9407C04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5FBE832-8C18-8908-5FF5-44362AD5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10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27D6AD3-CA96-55CA-F499-E13E5C3CCF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320" y="6432550"/>
            <a:ext cx="1862034" cy="425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C28073C-A5DC-9232-0B43-0FB3266734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33" y="6432550"/>
            <a:ext cx="1134533" cy="425450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CCA01EAD-3EB5-B960-8CF2-096D288434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3656" y="2133600"/>
            <a:ext cx="11284688" cy="29083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C7091CF4-5D51-7966-31A4-ECB7E1DCD3A4}"/>
              </a:ext>
            </a:extLst>
          </p:cNvPr>
          <p:cNvSpPr/>
          <p:nvPr/>
        </p:nvSpPr>
        <p:spPr>
          <a:xfrm>
            <a:off x="397764" y="3200400"/>
            <a:ext cx="2802636" cy="684305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73812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9B9E2-1C6E-AEB7-2DA9-637FDAE54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7C0BC943-B0B7-CC1E-EE9F-C99CDC19B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2.</a:t>
            </a:r>
            <a:r>
              <a:rPr lang="ko-KR" altLang="en-US" dirty="0">
                <a:ea typeface="굴림" panose="020B0600000101010101" pitchFamily="50" charset="-127"/>
              </a:rPr>
              <a:t> 설계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87367BC6-EAD2-CC2E-4530-63C91FE74DB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>
                <a:ea typeface="굴림" panose="020B0600000101010101" pitchFamily="50" charset="-127"/>
              </a:rPr>
              <a:t>가중치 재정렬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114CC60D-1416-91F1-2103-959ED2A799A0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845DA13-274E-F958-0AEB-C17EF39CD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11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2FF215A-0FD9-979B-1B0B-A75C5182E4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320" y="6432550"/>
            <a:ext cx="1862034" cy="425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1470C4B-68F0-0730-E4E6-A6257B8D43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33" y="6432550"/>
            <a:ext cx="1134533" cy="425450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C5A8284D-C3A7-C803-1F0A-CC45939D89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3656" y="2133600"/>
            <a:ext cx="11284688" cy="29083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C562E66-AFD6-CE9F-0F14-A7D69BF7A2F8}"/>
              </a:ext>
            </a:extLst>
          </p:cNvPr>
          <p:cNvSpPr/>
          <p:nvPr/>
        </p:nvSpPr>
        <p:spPr>
          <a:xfrm>
            <a:off x="397764" y="4040095"/>
            <a:ext cx="2802636" cy="684305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07486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98FBE-5512-6113-DF4A-B5E98AB16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1A9838F5-E035-01AC-E63A-EBE2435DF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2.</a:t>
            </a:r>
            <a:r>
              <a:rPr lang="ko-KR" altLang="en-US" dirty="0">
                <a:ea typeface="굴림" panose="020B0600000101010101" pitchFamily="50" charset="-127"/>
              </a:rPr>
              <a:t> 설계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A7A983D9-EED0-5CED-307F-989D5804F6D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>
                <a:ea typeface="굴림" panose="020B0600000101010101" pitchFamily="50" charset="-127"/>
              </a:rPr>
              <a:t>가중치 재정렬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C2F9FFBC-9688-EF7D-4335-95D0B4009003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D85AEE1-7937-78B3-CA11-50A9D3ECA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12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5E9F4C1-5329-DCA0-6586-EB38FA3F17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320" y="6432550"/>
            <a:ext cx="1862034" cy="425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5A43756-F607-F330-9700-6B19B1495C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33" y="6432550"/>
            <a:ext cx="1134533" cy="425450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56107035-770B-164C-DC9A-AD00B52508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3656" y="2133600"/>
            <a:ext cx="11284688" cy="29083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F9B08B2-D0C9-99AB-E3EF-AF9845FD58C9}"/>
              </a:ext>
            </a:extLst>
          </p:cNvPr>
          <p:cNvSpPr/>
          <p:nvPr/>
        </p:nvSpPr>
        <p:spPr>
          <a:xfrm>
            <a:off x="7239000" y="2413002"/>
            <a:ext cx="4572000" cy="42545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77374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E3ADC-2A27-8783-624F-A85CC7BB8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5D5542EB-A60A-F62B-221C-D774FD743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2.</a:t>
            </a:r>
            <a:r>
              <a:rPr lang="ko-KR" altLang="en-US" dirty="0">
                <a:ea typeface="굴림" panose="020B0600000101010101" pitchFamily="50" charset="-127"/>
              </a:rPr>
              <a:t> 설계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ED3D5639-63D8-027E-D53A-C1DF59706DB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>
                <a:ea typeface="굴림" panose="020B0600000101010101" pitchFamily="50" charset="-127"/>
              </a:rPr>
              <a:t>가중치 재정렬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1A9A65FE-45D9-CE35-7467-D912E0509D8B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7073451-20D4-94C3-A1F0-43F8D7D05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13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7B68464-017C-270F-DB47-1DCDDA7199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320" y="6432550"/>
            <a:ext cx="1862034" cy="425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CC2F8BC-386D-09D7-19CE-3904EF1282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33" y="6432550"/>
            <a:ext cx="1134533" cy="425450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B3FA5D46-2551-7DFF-33A3-E01C1B599A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3656" y="2133600"/>
            <a:ext cx="11284688" cy="29083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07865EE-BF4D-292C-6959-0D538F47E025}"/>
              </a:ext>
            </a:extLst>
          </p:cNvPr>
          <p:cNvSpPr/>
          <p:nvPr/>
        </p:nvSpPr>
        <p:spPr>
          <a:xfrm>
            <a:off x="7239000" y="2774950"/>
            <a:ext cx="4572000" cy="42545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62056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0FFD2-47AE-C017-9A7B-16D46D3B4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B795A319-B4E9-77B1-F23E-93843C676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2.</a:t>
            </a:r>
            <a:r>
              <a:rPr lang="ko-KR" altLang="en-US" dirty="0">
                <a:ea typeface="굴림" panose="020B0600000101010101" pitchFamily="50" charset="-127"/>
              </a:rPr>
              <a:t> 설계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25FBD79F-3669-2176-90B1-C769F550E59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>
                <a:ea typeface="굴림" panose="020B0600000101010101" pitchFamily="50" charset="-127"/>
              </a:rPr>
              <a:t>가중치 재정렬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999ED365-6B02-C0D4-2EF4-9C52BCEBA0A2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B890F9-44BA-4F4D-C068-2BA9BE24B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14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4EFE2B1-B1E2-1149-AD56-892CCB0D58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320" y="6432550"/>
            <a:ext cx="1862034" cy="425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C1EFAE9-0254-EC1C-F29B-3CC5B04DF3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33" y="6432550"/>
            <a:ext cx="1134533" cy="425450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AB98AC4-0531-FE2B-852E-979E7A35D9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3656" y="2133600"/>
            <a:ext cx="11284688" cy="29083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F6B278D0-A88F-9090-69DA-78709CA262B1}"/>
              </a:ext>
            </a:extLst>
          </p:cNvPr>
          <p:cNvSpPr/>
          <p:nvPr/>
        </p:nvSpPr>
        <p:spPr>
          <a:xfrm>
            <a:off x="7239000" y="3079750"/>
            <a:ext cx="4572000" cy="42545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46137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CA5FA-7F40-8CED-DFFB-4F37D15E9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E246764B-1B89-C06F-7EB8-2B6AF44C3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2.</a:t>
            </a:r>
            <a:r>
              <a:rPr lang="ko-KR" altLang="en-US" dirty="0">
                <a:ea typeface="굴림" panose="020B0600000101010101" pitchFamily="50" charset="-127"/>
              </a:rPr>
              <a:t> 설계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75E85A69-6A9A-B29B-F0AF-427D2F8220C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>
                <a:ea typeface="굴림" panose="020B0600000101010101" pitchFamily="50" charset="-127"/>
              </a:rPr>
              <a:t>가중치 재정렬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C7AD62B4-ACD4-9B89-31DE-2F56173387AF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ACEC1E8-213B-E1E0-730C-9281DFE9C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15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A436ED7-6CE3-E8C3-18F2-D81332C3BC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320" y="6432550"/>
            <a:ext cx="1862034" cy="425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35A3B62-D6E6-2AB0-6CC9-3D2676CF40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33" y="6432550"/>
            <a:ext cx="1134533" cy="425450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18B6485A-1F59-CDD3-D3B6-CC1AC5F0F2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3656" y="2133600"/>
            <a:ext cx="11284688" cy="29083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70DE342-982D-59C4-5B63-A04DCC0B91E2}"/>
              </a:ext>
            </a:extLst>
          </p:cNvPr>
          <p:cNvSpPr/>
          <p:nvPr/>
        </p:nvSpPr>
        <p:spPr>
          <a:xfrm>
            <a:off x="7239000" y="3079750"/>
            <a:ext cx="4572000" cy="42545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A7B73E-EFF4-2E1E-DBB7-1A9B78835691}"/>
              </a:ext>
            </a:extLst>
          </p:cNvPr>
          <p:cNvSpPr/>
          <p:nvPr/>
        </p:nvSpPr>
        <p:spPr>
          <a:xfrm>
            <a:off x="-152400" y="-152400"/>
            <a:ext cx="12725400" cy="7162800"/>
          </a:xfrm>
          <a:prstGeom prst="rect">
            <a:avLst/>
          </a:prstGeom>
          <a:solidFill>
            <a:schemeClr val="accent6">
              <a:lumMod val="40000"/>
              <a:lumOff val="60000"/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65A0AC4-D585-BD15-148B-0190C2C9B0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107" y="91567"/>
            <a:ext cx="8819785" cy="667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74757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A7459-863A-6853-7389-4B7815774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1F721ABC-9386-EAC5-AC50-CF4EBCEB0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B6C33FE-8D53-7FCE-7F65-63A7D26F0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16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EA94445-C591-9164-8D11-581F65544460}"/>
              </a:ext>
            </a:extLst>
          </p:cNvPr>
          <p:cNvSpPr txBox="1">
            <a:spLocks/>
          </p:cNvSpPr>
          <p:nvPr/>
        </p:nvSpPr>
        <p:spPr>
          <a:xfrm>
            <a:off x="2362200" y="2209800"/>
            <a:ext cx="7467600" cy="1930399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3.</a:t>
            </a:r>
            <a:r>
              <a:rPr lang="ko-KR" altLang="en-US" sz="4400" dirty="0">
                <a:solidFill>
                  <a:schemeClr val="tx1"/>
                </a:solidFill>
              </a:rPr>
              <a:t> 검증</a:t>
            </a:r>
            <a:endParaRPr lang="en-US" altLang="ko-KR" sz="4400" dirty="0">
              <a:solidFill>
                <a:schemeClr val="tx1"/>
              </a:solidFill>
            </a:endParaRPr>
          </a:p>
          <a:p>
            <a:pPr marL="514350" indent="-514350" algn="ctr">
              <a:buAutoNum type="arabicPeriod"/>
            </a:pPr>
            <a:endParaRPr lang="en-US" altLang="ko-KR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9992786-09B4-0C17-EDEA-9959C0C17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320" y="6432550"/>
            <a:ext cx="1862034" cy="4254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FEB1D06-85A8-6C2E-12AC-7C47369CB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33" y="6432550"/>
            <a:ext cx="1134533" cy="42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665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D7ABC-6C57-8D4B-EB66-30145E68D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CC8A1F73-E98D-C4DD-5538-07B40BC0A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3.</a:t>
            </a:r>
            <a:r>
              <a:rPr lang="ko-KR" altLang="en-US" dirty="0">
                <a:ea typeface="굴림" panose="020B0600000101010101" pitchFamily="50" charset="-127"/>
              </a:rPr>
              <a:t> 검증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88BB84D9-A74F-5D94-7E35-DE29EA3B025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>
                <a:ea typeface="굴림" panose="020B0600000101010101" pitchFamily="50" charset="-127"/>
              </a:rPr>
              <a:t>전체 파형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3BBBEE4F-0618-4571-4817-5EC450E9C65A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94B05A1-3816-CAF0-6416-5103B9B7B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17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BE28D4-28D2-C4D8-BC2F-00783CE4F0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320" y="6432550"/>
            <a:ext cx="1862034" cy="425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F48B158-3EDC-E6CC-3882-D0972E8C9F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33" y="6432550"/>
            <a:ext cx="1134533" cy="4254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8AF5944-5904-146A-29F8-3024B87C0A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843"/>
          <a:stretch>
            <a:fillRect/>
          </a:stretch>
        </p:blipFill>
        <p:spPr>
          <a:xfrm>
            <a:off x="418989" y="1805782"/>
            <a:ext cx="11354022" cy="1547018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A4B8E3B6-3DC3-56A5-D509-D697E891E6DF}"/>
              </a:ext>
            </a:extLst>
          </p:cNvPr>
          <p:cNvSpPr/>
          <p:nvPr/>
        </p:nvSpPr>
        <p:spPr>
          <a:xfrm>
            <a:off x="1447799" y="3164642"/>
            <a:ext cx="10325211" cy="264358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아래쪽 화살표[D] 27">
            <a:extLst>
              <a:ext uri="{FF2B5EF4-FFF2-40B4-BE49-F238E27FC236}">
                <a16:creationId xmlns:a16="http://schemas.microsoft.com/office/drawing/2014/main" id="{E4BDBEAE-68E4-E306-B263-74F07C0B275D}"/>
              </a:ext>
            </a:extLst>
          </p:cNvPr>
          <p:cNvSpPr/>
          <p:nvPr/>
        </p:nvSpPr>
        <p:spPr>
          <a:xfrm>
            <a:off x="6019800" y="3443774"/>
            <a:ext cx="152400" cy="57180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3E9CD1-F991-61E5-AD08-ED796543C131}"/>
              </a:ext>
            </a:extLst>
          </p:cNvPr>
          <p:cNvSpPr txBox="1"/>
          <p:nvPr/>
        </p:nvSpPr>
        <p:spPr>
          <a:xfrm>
            <a:off x="1752600" y="4343400"/>
            <a:ext cx="86868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/>
              <a:t>48</a:t>
            </a:r>
            <a:r>
              <a:rPr lang="ko-KR" altLang="en-US" sz="2400" b="1" dirty="0"/>
              <a:t>회</a:t>
            </a:r>
            <a:endParaRPr lang="en-US" altLang="ko-KR" sz="2400" b="1" dirty="0"/>
          </a:p>
          <a:p>
            <a:pPr algn="ctr"/>
            <a:r>
              <a:rPr lang="en-US" altLang="ko-KR" sz="2400" b="1" dirty="0"/>
              <a:t>384f ÷ 8 = 48</a:t>
            </a:r>
          </a:p>
          <a:p>
            <a:pPr algn="ctr"/>
            <a:endParaRPr lang="en-US" altLang="ko-KR" sz="2400" b="1" dirty="0"/>
          </a:p>
          <a:p>
            <a:pPr algn="ctr"/>
            <a:r>
              <a:rPr lang="ko-KR" altLang="en-US" sz="2000" b="1" dirty="0"/>
              <a:t>가중치 </a:t>
            </a:r>
            <a:r>
              <a:rPr lang="en-US" altLang="ko-KR" sz="2000" b="1" dirty="0"/>
              <a:t>384</a:t>
            </a:r>
            <a:r>
              <a:rPr lang="ko-KR" altLang="en-US" sz="2000" b="1" dirty="0"/>
              <a:t>개의 필터를 </a:t>
            </a:r>
            <a:r>
              <a:rPr lang="en-US" altLang="ko-KR" sz="2000" b="1" dirty="0"/>
              <a:t>S.A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8</a:t>
            </a:r>
            <a:r>
              <a:rPr lang="ko-KR" altLang="en-US" sz="2000" b="1" dirty="0"/>
              <a:t>개씩 넣어서 총 </a:t>
            </a:r>
            <a:r>
              <a:rPr lang="en-US" altLang="ko-KR" sz="2000" b="1" dirty="0"/>
              <a:t>48</a:t>
            </a:r>
            <a:r>
              <a:rPr lang="ko-KR" altLang="en-US" sz="2000" b="1" dirty="0"/>
              <a:t>회 반복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160907333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56821-E48D-8DBF-CA1A-543B375DE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CFF132A6-C6A2-7D37-E22C-EDA675E26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3.</a:t>
            </a:r>
            <a:r>
              <a:rPr lang="ko-KR" altLang="en-US" dirty="0">
                <a:ea typeface="굴림" panose="020B0600000101010101" pitchFamily="50" charset="-127"/>
              </a:rPr>
              <a:t> 검증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45DFE724-DF3A-99CC-88D0-50DC0436631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>
                <a:ea typeface="굴림" panose="020B0600000101010101" pitchFamily="50" charset="-127"/>
              </a:rPr>
              <a:t>가중치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B09F4E5B-5062-6E99-EBB0-B504C8DF647F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5FE8A96-584F-17B4-464C-01B79A2E7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18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A270EED-CE22-AF14-712D-9065A298E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320" y="6432550"/>
            <a:ext cx="1862034" cy="425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101FBD4-5AE1-0083-8920-9075D9629E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33" y="6432550"/>
            <a:ext cx="1134533" cy="425450"/>
          </a:xfrm>
          <a:prstGeom prst="rect">
            <a:avLst/>
          </a:prstGeom>
        </p:spPr>
      </p:pic>
      <p:sp>
        <p:nvSpPr>
          <p:cNvPr id="28" name="아래쪽 화살표[D] 27">
            <a:extLst>
              <a:ext uri="{FF2B5EF4-FFF2-40B4-BE49-F238E27FC236}">
                <a16:creationId xmlns:a16="http://schemas.microsoft.com/office/drawing/2014/main" id="{9ABE705E-60A5-A5F8-211C-AEF4F6A15A05}"/>
              </a:ext>
            </a:extLst>
          </p:cNvPr>
          <p:cNvSpPr/>
          <p:nvPr/>
        </p:nvSpPr>
        <p:spPr>
          <a:xfrm>
            <a:off x="6019800" y="3443774"/>
            <a:ext cx="152400" cy="57180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AF4A53-2A6B-4431-24C0-2A6314CC2B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563" b="25990"/>
          <a:stretch>
            <a:fillRect/>
          </a:stretch>
        </p:blipFill>
        <p:spPr>
          <a:xfrm>
            <a:off x="609600" y="1708477"/>
            <a:ext cx="7071407" cy="442308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EC81E3F-EB2B-0B9B-57D2-400E4CE082C4}"/>
              </a:ext>
            </a:extLst>
          </p:cNvPr>
          <p:cNvSpPr/>
          <p:nvPr/>
        </p:nvSpPr>
        <p:spPr>
          <a:xfrm>
            <a:off x="3064849" y="3429000"/>
            <a:ext cx="3945551" cy="409337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아래쪽 화살표[D] 11">
            <a:extLst>
              <a:ext uri="{FF2B5EF4-FFF2-40B4-BE49-F238E27FC236}">
                <a16:creationId xmlns:a16="http://schemas.microsoft.com/office/drawing/2014/main" id="{2B1D8851-817A-CC63-C3F1-D2DE8C6196ED}"/>
              </a:ext>
            </a:extLst>
          </p:cNvPr>
          <p:cNvSpPr/>
          <p:nvPr/>
        </p:nvSpPr>
        <p:spPr>
          <a:xfrm>
            <a:off x="3632350" y="4663875"/>
            <a:ext cx="258457" cy="1101011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1066EA6-AB44-5938-BEDA-DC841C22C4E1}"/>
              </a:ext>
            </a:extLst>
          </p:cNvPr>
          <p:cNvCxnSpPr>
            <a:stCxn id="9" idx="3"/>
          </p:cNvCxnSpPr>
          <p:nvPr/>
        </p:nvCxnSpPr>
        <p:spPr>
          <a:xfrm flipV="1">
            <a:off x="7010400" y="2819400"/>
            <a:ext cx="1752600" cy="814269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1BB406F-1075-1667-F34F-C2B494C7079C}"/>
              </a:ext>
            </a:extLst>
          </p:cNvPr>
          <p:cNvSpPr txBox="1"/>
          <p:nvPr/>
        </p:nvSpPr>
        <p:spPr>
          <a:xfrm>
            <a:off x="8519207" y="2365802"/>
            <a:ext cx="243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가중치 정렬 시작</a:t>
            </a:r>
            <a:endParaRPr lang="en-US" altLang="ko-KR" sz="2400" b="1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A7BEF73-D136-3FCA-F4B7-88BF6C842287}"/>
              </a:ext>
            </a:extLst>
          </p:cNvPr>
          <p:cNvSpPr/>
          <p:nvPr/>
        </p:nvSpPr>
        <p:spPr>
          <a:xfrm>
            <a:off x="3427499" y="4231742"/>
            <a:ext cx="3461523" cy="44027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BC789C2-C31F-DD94-5665-1FA11DC2C2A4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6889022" y="4223486"/>
            <a:ext cx="1554977" cy="228391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B637E00-AB32-F410-8A89-4797D88CE7F3}"/>
              </a:ext>
            </a:extLst>
          </p:cNvPr>
          <p:cNvSpPr txBox="1"/>
          <p:nvPr/>
        </p:nvSpPr>
        <p:spPr>
          <a:xfrm>
            <a:off x="8619260" y="3585003"/>
            <a:ext cx="243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가중치 메모리</a:t>
            </a:r>
            <a:endParaRPr lang="en-US" altLang="ko-KR" sz="2400" b="1" dirty="0"/>
          </a:p>
          <a:p>
            <a:pPr algn="ctr"/>
            <a:r>
              <a:rPr lang="en-US" altLang="ko-KR" sz="2400" b="1" dirty="0"/>
              <a:t>Read</a:t>
            </a:r>
          </a:p>
          <a:p>
            <a:pPr algn="ctr"/>
            <a:r>
              <a:rPr lang="en-US" altLang="ko-KR" sz="2400" b="1" dirty="0"/>
              <a:t>(16bit x 8)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56F38828-E4DD-861D-22A4-C6CE81782F01}"/>
              </a:ext>
            </a:extLst>
          </p:cNvPr>
          <p:cNvCxnSpPr>
            <a:cxnSpLocks/>
          </p:cNvCxnSpPr>
          <p:nvPr/>
        </p:nvCxnSpPr>
        <p:spPr>
          <a:xfrm>
            <a:off x="7162800" y="5164627"/>
            <a:ext cx="1231255" cy="280706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B9448AD-983D-0C2A-1962-5C5BE60F113D}"/>
              </a:ext>
            </a:extLst>
          </p:cNvPr>
          <p:cNvSpPr txBox="1"/>
          <p:nvPr/>
        </p:nvSpPr>
        <p:spPr>
          <a:xfrm>
            <a:off x="8233930" y="4977267"/>
            <a:ext cx="39580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읽은 값은 </a:t>
            </a:r>
            <a:r>
              <a:rPr lang="en-US" altLang="ko-KR" sz="2400" b="1" dirty="0"/>
              <a:t>0</a:t>
            </a:r>
            <a:r>
              <a:rPr lang="ko-KR" altLang="en-US" sz="2400" b="1" dirty="0"/>
              <a:t>번째 행</a:t>
            </a:r>
            <a:endParaRPr lang="en-US" altLang="ko-KR" sz="2400" b="1" dirty="0"/>
          </a:p>
          <a:p>
            <a:pPr algn="ctr"/>
            <a:r>
              <a:rPr lang="ko-KR" altLang="en-US" sz="2400" b="1" dirty="0"/>
              <a:t>클럭 마다 한 행씩 미루며</a:t>
            </a:r>
            <a:endParaRPr lang="en-US" altLang="ko-KR" sz="2400" b="1" dirty="0"/>
          </a:p>
          <a:p>
            <a:pPr algn="ctr"/>
            <a:r>
              <a:rPr lang="en-US" altLang="ko-KR" sz="2400" b="1" dirty="0"/>
              <a:t>7</a:t>
            </a:r>
            <a:r>
              <a:rPr lang="ko-KR" altLang="en-US" sz="2400" b="1" dirty="0"/>
              <a:t>행까지 채우기</a:t>
            </a:r>
            <a:endParaRPr lang="en-US" altLang="ko-KR" sz="2400" b="1" dirty="0"/>
          </a:p>
        </p:txBody>
      </p:sp>
      <p:sp>
        <p:nvSpPr>
          <p:cNvPr id="38" name="아래쪽 화살표[D] 37">
            <a:extLst>
              <a:ext uri="{FF2B5EF4-FFF2-40B4-BE49-F238E27FC236}">
                <a16:creationId xmlns:a16="http://schemas.microsoft.com/office/drawing/2014/main" id="{14C40968-4B8A-A7EB-55F2-58AB92DD15A8}"/>
              </a:ext>
            </a:extLst>
          </p:cNvPr>
          <p:cNvSpPr/>
          <p:nvPr/>
        </p:nvSpPr>
        <p:spPr>
          <a:xfrm rot="14663133">
            <a:off x="3915057" y="5759307"/>
            <a:ext cx="234479" cy="43645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9" name="아래쪽 화살표[D] 38">
            <a:extLst>
              <a:ext uri="{FF2B5EF4-FFF2-40B4-BE49-F238E27FC236}">
                <a16:creationId xmlns:a16="http://schemas.microsoft.com/office/drawing/2014/main" id="{FEB52582-015E-A393-AB15-60746BB2924C}"/>
              </a:ext>
            </a:extLst>
          </p:cNvPr>
          <p:cNvSpPr/>
          <p:nvPr/>
        </p:nvSpPr>
        <p:spPr>
          <a:xfrm rot="14663133">
            <a:off x="4384588" y="5643704"/>
            <a:ext cx="234479" cy="43645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0" name="아래쪽 화살표[D] 39">
            <a:extLst>
              <a:ext uri="{FF2B5EF4-FFF2-40B4-BE49-F238E27FC236}">
                <a16:creationId xmlns:a16="http://schemas.microsoft.com/office/drawing/2014/main" id="{D6080FF6-69E9-2302-1FCF-FD27532E5A3A}"/>
              </a:ext>
            </a:extLst>
          </p:cNvPr>
          <p:cNvSpPr/>
          <p:nvPr/>
        </p:nvSpPr>
        <p:spPr>
          <a:xfrm rot="14663133">
            <a:off x="4844507" y="5523529"/>
            <a:ext cx="234479" cy="43645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1" name="아래쪽 화살표[D] 40">
            <a:extLst>
              <a:ext uri="{FF2B5EF4-FFF2-40B4-BE49-F238E27FC236}">
                <a16:creationId xmlns:a16="http://schemas.microsoft.com/office/drawing/2014/main" id="{E5F52D5E-66C5-5779-2CD0-C9AFE172EA55}"/>
              </a:ext>
            </a:extLst>
          </p:cNvPr>
          <p:cNvSpPr/>
          <p:nvPr/>
        </p:nvSpPr>
        <p:spPr>
          <a:xfrm rot="14663133">
            <a:off x="5253625" y="5391390"/>
            <a:ext cx="234479" cy="43645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2" name="아래쪽 화살표[D] 41">
            <a:extLst>
              <a:ext uri="{FF2B5EF4-FFF2-40B4-BE49-F238E27FC236}">
                <a16:creationId xmlns:a16="http://schemas.microsoft.com/office/drawing/2014/main" id="{8594E7AD-828C-2EC3-01D5-3FEA8AF20ABA}"/>
              </a:ext>
            </a:extLst>
          </p:cNvPr>
          <p:cNvSpPr/>
          <p:nvPr/>
        </p:nvSpPr>
        <p:spPr>
          <a:xfrm rot="14663133">
            <a:off x="5686117" y="5259249"/>
            <a:ext cx="234479" cy="43645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3" name="아래쪽 화살표[D] 42">
            <a:extLst>
              <a:ext uri="{FF2B5EF4-FFF2-40B4-BE49-F238E27FC236}">
                <a16:creationId xmlns:a16="http://schemas.microsoft.com/office/drawing/2014/main" id="{B7A9FDE1-743C-A3D6-E1D9-D474A595C417}"/>
              </a:ext>
            </a:extLst>
          </p:cNvPr>
          <p:cNvSpPr/>
          <p:nvPr/>
        </p:nvSpPr>
        <p:spPr>
          <a:xfrm rot="14663133">
            <a:off x="6181048" y="5069508"/>
            <a:ext cx="234479" cy="43645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4" name="아래쪽 화살표[D] 43">
            <a:extLst>
              <a:ext uri="{FF2B5EF4-FFF2-40B4-BE49-F238E27FC236}">
                <a16:creationId xmlns:a16="http://schemas.microsoft.com/office/drawing/2014/main" id="{EE11597C-0CBF-CB9D-8217-ABC0B0471B50}"/>
              </a:ext>
            </a:extLst>
          </p:cNvPr>
          <p:cNvSpPr/>
          <p:nvPr/>
        </p:nvSpPr>
        <p:spPr>
          <a:xfrm rot="14663133">
            <a:off x="6645695" y="4946399"/>
            <a:ext cx="234479" cy="43645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165330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ABCA0-CC0D-548A-E84F-207DC434B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DE9DAF4B-8A24-11A5-08C0-84AB97169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3.</a:t>
            </a:r>
            <a:r>
              <a:rPr lang="ko-KR" altLang="en-US" dirty="0">
                <a:ea typeface="굴림" panose="020B0600000101010101" pitchFamily="50" charset="-127"/>
              </a:rPr>
              <a:t> 검증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47066F4C-8A4E-626A-ED14-6E4F7ADD66E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>
                <a:ea typeface="굴림" panose="020B0600000101010101" pitchFamily="50" charset="-127"/>
              </a:rPr>
              <a:t>누적 합산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8229ABD5-27D3-AE77-68EB-99D7A47F7CF9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725DA0B-B41B-9A0D-6F96-38602179C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19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D65CBF6-D336-0A19-76CE-C7C2ED66DE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320" y="6432550"/>
            <a:ext cx="1862034" cy="425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0895E7E-CCD9-4713-A7DC-F0EDD29AFB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33" y="6432550"/>
            <a:ext cx="1134533" cy="4254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C91E220-8F3E-698C-9EBF-C2A84AB165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581" b="6873"/>
          <a:stretch>
            <a:fillRect/>
          </a:stretch>
        </p:blipFill>
        <p:spPr>
          <a:xfrm>
            <a:off x="237297" y="1752600"/>
            <a:ext cx="11717405" cy="143256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8B32285-1A9C-A306-24F9-D811B13AE3BC}"/>
              </a:ext>
            </a:extLst>
          </p:cNvPr>
          <p:cNvSpPr/>
          <p:nvPr/>
        </p:nvSpPr>
        <p:spPr>
          <a:xfrm>
            <a:off x="2743201" y="1752600"/>
            <a:ext cx="838200" cy="3048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2AD9E7-CFC3-37E6-686A-104AF8210418}"/>
              </a:ext>
            </a:extLst>
          </p:cNvPr>
          <p:cNvSpPr txBox="1"/>
          <p:nvPr/>
        </p:nvSpPr>
        <p:spPr>
          <a:xfrm>
            <a:off x="1981200" y="3359455"/>
            <a:ext cx="243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입력 데이터</a:t>
            </a:r>
            <a:endParaRPr lang="en-US" altLang="ko-KR" sz="1600" b="1" dirty="0"/>
          </a:p>
          <a:p>
            <a:pPr algn="ctr"/>
            <a:r>
              <a:rPr lang="ko-KR" altLang="en-US" sz="1600" b="1" dirty="0"/>
              <a:t>메모리 접근</a:t>
            </a:r>
            <a:endParaRPr lang="en-US" altLang="ko-KR" sz="1600" b="1" dirty="0"/>
          </a:p>
          <a:p>
            <a:pPr algn="ctr"/>
            <a:r>
              <a:rPr lang="en-US" altLang="ko-KR" sz="1600" b="1" dirty="0"/>
              <a:t>(</a:t>
            </a:r>
            <a:r>
              <a:rPr lang="ko-KR" altLang="en-US" sz="1600" b="1" dirty="0"/>
              <a:t>지연 </a:t>
            </a:r>
            <a:r>
              <a:rPr lang="en-US" altLang="ko-KR" sz="1600" b="1" dirty="0"/>
              <a:t>1</a:t>
            </a:r>
            <a:r>
              <a:rPr lang="ko-KR" altLang="en-US" sz="1600" b="1" dirty="0"/>
              <a:t>클럭</a:t>
            </a:r>
            <a:r>
              <a:rPr lang="en-US" altLang="ko-KR" sz="1600" b="1" dirty="0"/>
              <a:t>)</a:t>
            </a:r>
          </a:p>
        </p:txBody>
      </p:sp>
      <p:sp>
        <p:nvSpPr>
          <p:cNvPr id="11" name="아래쪽 화살표[D] 10">
            <a:extLst>
              <a:ext uri="{FF2B5EF4-FFF2-40B4-BE49-F238E27FC236}">
                <a16:creationId xmlns:a16="http://schemas.microsoft.com/office/drawing/2014/main" id="{D7F760DD-FD2B-46E4-6476-5F02BF878407}"/>
              </a:ext>
            </a:extLst>
          </p:cNvPr>
          <p:cNvSpPr/>
          <p:nvPr/>
        </p:nvSpPr>
        <p:spPr>
          <a:xfrm>
            <a:off x="3299772" y="2057399"/>
            <a:ext cx="112971" cy="124966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BBA322-66A2-7455-7D43-40855EB93909}"/>
              </a:ext>
            </a:extLst>
          </p:cNvPr>
          <p:cNvSpPr/>
          <p:nvPr/>
        </p:nvSpPr>
        <p:spPr>
          <a:xfrm>
            <a:off x="3581401" y="1752600"/>
            <a:ext cx="1828799" cy="3048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아래쪽 화살표[D] 13">
            <a:extLst>
              <a:ext uri="{FF2B5EF4-FFF2-40B4-BE49-F238E27FC236}">
                <a16:creationId xmlns:a16="http://schemas.microsoft.com/office/drawing/2014/main" id="{AA14C07F-7A4B-C5B6-5D02-B7AE4A86C265}"/>
              </a:ext>
            </a:extLst>
          </p:cNvPr>
          <p:cNvSpPr/>
          <p:nvPr/>
        </p:nvSpPr>
        <p:spPr>
          <a:xfrm>
            <a:off x="4428945" y="2057399"/>
            <a:ext cx="112971" cy="124966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D5AD8F-48AC-3E7A-3211-F094FF9F328F}"/>
              </a:ext>
            </a:extLst>
          </p:cNvPr>
          <p:cNvSpPr txBox="1"/>
          <p:nvPr/>
        </p:nvSpPr>
        <p:spPr>
          <a:xfrm>
            <a:off x="3352800" y="3358264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곱셈 결과</a:t>
            </a:r>
            <a:endParaRPr lang="en-US" altLang="ko-KR" sz="1600" b="1" dirty="0"/>
          </a:p>
          <a:p>
            <a:pPr algn="ctr"/>
            <a:r>
              <a:rPr lang="en-US" altLang="ko-KR" sz="1600" b="1" dirty="0"/>
              <a:t>(</a:t>
            </a:r>
            <a:r>
              <a:rPr lang="ko-KR" altLang="en-US" sz="1600" b="1" dirty="0"/>
              <a:t>지연 </a:t>
            </a:r>
            <a:r>
              <a:rPr lang="en-US" altLang="ko-KR" sz="1600" b="1" dirty="0"/>
              <a:t>4</a:t>
            </a:r>
            <a:r>
              <a:rPr lang="ko-KR" altLang="en-US" sz="1600" b="1" dirty="0"/>
              <a:t>클럭</a:t>
            </a:r>
            <a:r>
              <a:rPr lang="en-US" altLang="ko-KR" sz="1600" b="1" dirty="0"/>
              <a:t>)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F69557-91D0-2028-8A22-F91A492D4CE2}"/>
              </a:ext>
            </a:extLst>
          </p:cNvPr>
          <p:cNvSpPr/>
          <p:nvPr/>
        </p:nvSpPr>
        <p:spPr>
          <a:xfrm>
            <a:off x="5405717" y="1752600"/>
            <a:ext cx="3204883" cy="3048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아래쪽 화살표[D] 16">
            <a:extLst>
              <a:ext uri="{FF2B5EF4-FFF2-40B4-BE49-F238E27FC236}">
                <a16:creationId xmlns:a16="http://schemas.microsoft.com/office/drawing/2014/main" id="{C48D81C5-259F-90CD-7527-CE67E486D21A}"/>
              </a:ext>
            </a:extLst>
          </p:cNvPr>
          <p:cNvSpPr/>
          <p:nvPr/>
        </p:nvSpPr>
        <p:spPr>
          <a:xfrm>
            <a:off x="6950458" y="2057399"/>
            <a:ext cx="112971" cy="1238462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79E325-95EF-CE57-A476-A2311D1EDDB8}"/>
              </a:ext>
            </a:extLst>
          </p:cNvPr>
          <p:cNvSpPr txBox="1"/>
          <p:nvPr/>
        </p:nvSpPr>
        <p:spPr>
          <a:xfrm>
            <a:off x="5874313" y="3347058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곱셈 결과</a:t>
            </a:r>
            <a:endParaRPr lang="en-US" altLang="ko-KR" sz="1600" b="1" dirty="0"/>
          </a:p>
          <a:p>
            <a:pPr algn="ctr"/>
            <a:r>
              <a:rPr lang="en-US" altLang="ko-KR" sz="1600" b="1" dirty="0"/>
              <a:t>2~8</a:t>
            </a:r>
            <a:r>
              <a:rPr lang="ko-KR" altLang="en-US" sz="1600" b="1" dirty="0"/>
              <a:t>번째 결과</a:t>
            </a:r>
            <a:endParaRPr lang="en-US" altLang="ko-KR" sz="16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0E3401E-EF51-BEAD-C3B2-7C1279650F73}"/>
              </a:ext>
            </a:extLst>
          </p:cNvPr>
          <p:cNvSpPr/>
          <p:nvPr/>
        </p:nvSpPr>
        <p:spPr>
          <a:xfrm>
            <a:off x="8619945" y="1752599"/>
            <a:ext cx="447856" cy="3048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아래쪽 화살표[D] 19">
            <a:extLst>
              <a:ext uri="{FF2B5EF4-FFF2-40B4-BE49-F238E27FC236}">
                <a16:creationId xmlns:a16="http://schemas.microsoft.com/office/drawing/2014/main" id="{641B5EEC-B437-4C77-7B1E-53CE76B9213F}"/>
              </a:ext>
            </a:extLst>
          </p:cNvPr>
          <p:cNvSpPr/>
          <p:nvPr/>
        </p:nvSpPr>
        <p:spPr>
          <a:xfrm>
            <a:off x="8779258" y="2051504"/>
            <a:ext cx="112971" cy="1238462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9A6A67-8B9B-1DA2-B2F2-32869DECA720}"/>
              </a:ext>
            </a:extLst>
          </p:cNvPr>
          <p:cNvSpPr txBox="1"/>
          <p:nvPr/>
        </p:nvSpPr>
        <p:spPr>
          <a:xfrm>
            <a:off x="7703113" y="3341163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8</a:t>
            </a:r>
            <a:r>
              <a:rPr lang="ko-KR" altLang="en-US" sz="1600" b="1" dirty="0"/>
              <a:t>번째 </a:t>
            </a:r>
            <a:r>
              <a:rPr lang="ko-KR" altLang="en-US" sz="1600" b="1" dirty="0" err="1"/>
              <a:t>누산</a:t>
            </a:r>
            <a:endParaRPr lang="en-US" altLang="ko-KR" sz="1600" b="1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CD7AE86-62C1-62CF-76E3-A5F8F955A90E}"/>
              </a:ext>
            </a:extLst>
          </p:cNvPr>
          <p:cNvSpPr/>
          <p:nvPr/>
        </p:nvSpPr>
        <p:spPr>
          <a:xfrm>
            <a:off x="9098986" y="2123889"/>
            <a:ext cx="447856" cy="3048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9EAA03F6-762F-E64A-113B-3BE9FB45AF05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7391400" y="2428689"/>
            <a:ext cx="1931514" cy="1838511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4EB48F4-248C-6AF9-4615-E122254B7DA0}"/>
              </a:ext>
            </a:extLst>
          </p:cNvPr>
          <p:cNvSpPr txBox="1"/>
          <p:nvPr/>
        </p:nvSpPr>
        <p:spPr>
          <a:xfrm>
            <a:off x="6019800" y="4343400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(0.03125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x 1)x 8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025A784-6258-98D8-91B9-30454DA74A08}"/>
              </a:ext>
            </a:extLst>
          </p:cNvPr>
          <p:cNvSpPr/>
          <p:nvPr/>
        </p:nvSpPr>
        <p:spPr>
          <a:xfrm>
            <a:off x="9557174" y="2123888"/>
            <a:ext cx="447856" cy="3048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2982132D-C699-A8B3-4A30-7C3F6B0D08E2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9781102" y="2428688"/>
            <a:ext cx="0" cy="1890097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9165C33-47A5-4D29-E2DD-06AC513F9DA3}"/>
              </a:ext>
            </a:extLst>
          </p:cNvPr>
          <p:cNvSpPr txBox="1"/>
          <p:nvPr/>
        </p:nvSpPr>
        <p:spPr>
          <a:xfrm>
            <a:off x="8458200" y="4343622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(0.03125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x 1.5)x 8</a:t>
            </a:r>
          </a:p>
        </p:txBody>
      </p:sp>
    </p:spTree>
    <p:extLst>
      <p:ext uri="{BB962C8B-B14F-4D97-AF65-F5344CB8AC3E}">
        <p14:creationId xmlns:p14="http://schemas.microsoft.com/office/powerpoint/2010/main" val="82023165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1C8CA-8376-C54F-13EF-37EFF1183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43BD1131-DA74-46C1-C10F-FA40D1F96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3.</a:t>
            </a:r>
            <a:r>
              <a:rPr lang="ko-KR" altLang="en-US" dirty="0">
                <a:ea typeface="굴림" panose="020B0600000101010101" pitchFamily="50" charset="-127"/>
              </a:rPr>
              <a:t> 검증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60F7966F-EA5F-E4F2-5367-B0B1E5C1B9C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>
                <a:ea typeface="굴림" panose="020B0600000101010101" pitchFamily="50" charset="-127"/>
              </a:rPr>
              <a:t>최종 테벤 결과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6251957-EF47-969C-3B97-4A677BF1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20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8A61E61-DD10-13E7-33CC-D608E84C59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320" y="6432550"/>
            <a:ext cx="1862034" cy="425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2AA3807-D030-5792-597B-C84D4E3113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33" y="6432550"/>
            <a:ext cx="1134533" cy="4254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3D0809A-3618-783D-430D-2AA6CCA15C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51" y="2127323"/>
            <a:ext cx="11082497" cy="312151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304AACF-B483-E6AF-63C1-858A764AE4EA}"/>
              </a:ext>
            </a:extLst>
          </p:cNvPr>
          <p:cNvSpPr/>
          <p:nvPr/>
        </p:nvSpPr>
        <p:spPr>
          <a:xfrm>
            <a:off x="554751" y="3581401"/>
            <a:ext cx="2417049" cy="380999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15563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6E865-5850-06C1-0899-80B6AD29E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02C6E825-56F0-C200-BA88-1081073E1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9CA8018-637B-756D-CC01-15A11A6E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21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D472FA-B551-40F4-F8CD-B3F583C6E43C}"/>
              </a:ext>
            </a:extLst>
          </p:cNvPr>
          <p:cNvSpPr txBox="1">
            <a:spLocks/>
          </p:cNvSpPr>
          <p:nvPr/>
        </p:nvSpPr>
        <p:spPr>
          <a:xfrm>
            <a:off x="2362200" y="2209800"/>
            <a:ext cx="7467600" cy="1930399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4400" dirty="0">
                <a:solidFill>
                  <a:schemeClr val="tx1"/>
                </a:solidFill>
              </a:rPr>
              <a:t>고찰</a:t>
            </a:r>
            <a:endParaRPr lang="en-US" altLang="ko-KR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AC89394-9200-24EC-C992-3A9D177BA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320" y="6432550"/>
            <a:ext cx="1862034" cy="4254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E32145B-1435-3463-D9E9-955F2741D2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33" y="6432550"/>
            <a:ext cx="1134533" cy="42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987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17448-4106-572C-ECE5-BBA11B9EB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874081B3-B670-19D3-EC4B-CD718C4FC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4. </a:t>
            </a:r>
            <a:r>
              <a:rPr lang="ko-KR" altLang="en-US" dirty="0">
                <a:ea typeface="굴림" panose="020B0600000101010101" pitchFamily="50" charset="-127"/>
              </a:rPr>
              <a:t>고찰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CCE243F4-A99C-1299-400E-02A55928BC3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ea typeface="굴림" panose="020B0600000101010101" pitchFamily="50" charset="-127"/>
              </a:rPr>
              <a:t>C</a:t>
            </a:r>
            <a:r>
              <a:rPr lang="ko-KR" altLang="en-US" dirty="0">
                <a:ea typeface="굴림" panose="020B0600000101010101" pitchFamily="50" charset="-127"/>
              </a:rPr>
              <a:t>언어 및 </a:t>
            </a:r>
            <a:r>
              <a:rPr lang="ko-KR" altLang="en-US" dirty="0" err="1">
                <a:ea typeface="굴림" panose="020B0600000101010101" pitchFamily="50" charset="-127"/>
              </a:rPr>
              <a:t>테스트벤치</a:t>
            </a:r>
            <a:endParaRPr lang="en-US" altLang="ko-KR" dirty="0">
              <a:ea typeface="굴림" panose="020B0600000101010101" pitchFamily="50" charset="-127"/>
            </a:endParaRPr>
          </a:p>
          <a:p>
            <a:endParaRPr lang="en-US" altLang="ko-KR" dirty="0">
              <a:ea typeface="굴림" panose="020B0600000101010101" pitchFamily="50" charset="-127"/>
            </a:endParaRPr>
          </a:p>
          <a:p>
            <a:pPr lvl="1"/>
            <a:r>
              <a:rPr lang="en-US" altLang="ko-KR" dirty="0">
                <a:ea typeface="굴림" panose="020B0600000101010101" pitchFamily="50" charset="-127"/>
              </a:rPr>
              <a:t>-</a:t>
            </a:r>
            <a:r>
              <a:rPr lang="ko-KR" altLang="en-US" dirty="0">
                <a:ea typeface="굴림" panose="020B0600000101010101" pitchFamily="50" charset="-127"/>
              </a:rPr>
              <a:t>이번 프로젝트에서 가장 큰 역할을 한 것은 </a:t>
            </a:r>
            <a:r>
              <a:rPr lang="en-US" altLang="ko-KR" dirty="0">
                <a:ea typeface="굴림" panose="020B0600000101010101" pitchFamily="50" charset="-127"/>
              </a:rPr>
              <a:t>RTL </a:t>
            </a:r>
            <a:r>
              <a:rPr lang="ko-KR" altLang="en-US" dirty="0">
                <a:ea typeface="굴림" panose="020B0600000101010101" pitchFamily="50" charset="-127"/>
              </a:rPr>
              <a:t>코드 자체가 아니라 검증 체계였음</a:t>
            </a:r>
            <a:r>
              <a:rPr lang="en-US" altLang="ko-KR" dirty="0">
                <a:ea typeface="굴림" panose="020B0600000101010101" pitchFamily="50" charset="-127"/>
              </a:rPr>
              <a:t>.</a:t>
            </a:r>
            <a:r>
              <a:rPr lang="ko-KR" altLang="en-US" dirty="0">
                <a:ea typeface="굴림" panose="020B0600000101010101" pitchFamily="50" charset="-127"/>
              </a:rPr>
              <a:t> </a:t>
            </a:r>
            <a:r>
              <a:rPr lang="en-US" altLang="ko-KR" dirty="0">
                <a:ea typeface="굴림" panose="020B0600000101010101" pitchFamily="50" charset="-127"/>
              </a:rPr>
              <a:t> float C </a:t>
            </a:r>
            <a:r>
              <a:rPr lang="ko-KR" altLang="en-US" dirty="0">
                <a:ea typeface="굴림" panose="020B0600000101010101" pitchFamily="50" charset="-127"/>
              </a:rPr>
              <a:t>골든 → 고정소수점 </a:t>
            </a:r>
            <a:r>
              <a:rPr lang="en-US" altLang="ko-KR" dirty="0">
                <a:ea typeface="굴림" panose="020B0600000101010101" pitchFamily="50" charset="-127"/>
              </a:rPr>
              <a:t>C </a:t>
            </a:r>
            <a:r>
              <a:rPr lang="ko-KR" altLang="en-US" dirty="0">
                <a:ea typeface="굴림" panose="020B0600000101010101" pitchFamily="50" charset="-127"/>
              </a:rPr>
              <a:t>모델 → </a:t>
            </a:r>
            <a:r>
              <a:rPr lang="en-US" altLang="ko-KR" dirty="0">
                <a:ea typeface="굴림" panose="020B0600000101010101" pitchFamily="50" charset="-127"/>
              </a:rPr>
              <a:t>RTL</a:t>
            </a:r>
            <a:r>
              <a:rPr lang="ko-KR" altLang="en-US" dirty="0">
                <a:ea typeface="굴림" panose="020B0600000101010101" pitchFamily="50" charset="-127"/>
              </a:rPr>
              <a:t>로 이어지는 </a:t>
            </a:r>
            <a:r>
              <a:rPr lang="en-US" altLang="ko-KR" dirty="0">
                <a:ea typeface="굴림" panose="020B0600000101010101" pitchFamily="50" charset="-127"/>
              </a:rPr>
              <a:t>2</a:t>
            </a:r>
            <a:r>
              <a:rPr lang="ko-KR" altLang="en-US" dirty="0">
                <a:ea typeface="굴림" panose="020B0600000101010101" pitchFamily="50" charset="-127"/>
              </a:rPr>
              <a:t>단 골든 체계를 세우니 </a:t>
            </a:r>
            <a:r>
              <a:rPr lang="en-US" altLang="ko-KR" dirty="0">
                <a:ea typeface="굴림" panose="020B0600000101010101" pitchFamily="50" charset="-127"/>
              </a:rPr>
              <a:t>"</a:t>
            </a:r>
            <a:r>
              <a:rPr lang="ko-KR" altLang="en-US" dirty="0">
                <a:ea typeface="굴림" panose="020B0600000101010101" pitchFamily="50" charset="-127"/>
              </a:rPr>
              <a:t>비트 단위 일치</a:t>
            </a:r>
            <a:r>
              <a:rPr lang="en-US" altLang="ko-KR" dirty="0">
                <a:ea typeface="굴림" panose="020B0600000101010101" pitchFamily="50" charset="-127"/>
              </a:rPr>
              <a:t>"</a:t>
            </a:r>
            <a:r>
              <a:rPr lang="ko-KR" altLang="en-US" dirty="0">
                <a:ea typeface="굴림" panose="020B0600000101010101" pitchFamily="50" charset="-127"/>
              </a:rPr>
              <a:t>라는 명확한 합격 기준이 생겼음</a:t>
            </a:r>
            <a:endParaRPr lang="en-US" altLang="ko-KR" dirty="0">
              <a:ea typeface="굴림" panose="020B0600000101010101" pitchFamily="50" charset="-127"/>
            </a:endParaRPr>
          </a:p>
          <a:p>
            <a:pPr lvl="1"/>
            <a:endParaRPr lang="en-US" altLang="ko-KR" dirty="0">
              <a:ea typeface="굴림" panose="020B0600000101010101" pitchFamily="50" charset="-127"/>
            </a:endParaRPr>
          </a:p>
          <a:p>
            <a:pPr lvl="1"/>
            <a:r>
              <a:rPr lang="en-US" altLang="ko-KR" dirty="0">
                <a:ea typeface="굴림" panose="020B0600000101010101" pitchFamily="50" charset="-127"/>
              </a:rPr>
              <a:t>AI</a:t>
            </a:r>
            <a:r>
              <a:rPr lang="ko-KR" altLang="en-US" dirty="0">
                <a:ea typeface="굴림" panose="020B0600000101010101" pitchFamily="50" charset="-127"/>
              </a:rPr>
              <a:t>의 도움으로 빠르게 진행된 부분일수록 스스로 충분히 고민하고 손으로 유도해 본 시간이 부족했음</a:t>
            </a:r>
            <a:r>
              <a:rPr lang="en-US" altLang="ko-KR" dirty="0">
                <a:ea typeface="굴림" panose="020B0600000101010101" pitchFamily="50" charset="-127"/>
              </a:rPr>
              <a:t>.</a:t>
            </a:r>
          </a:p>
          <a:p>
            <a:pPr marL="274320" lvl="1" indent="0">
              <a:buNone/>
            </a:pPr>
            <a:r>
              <a:rPr lang="ko-KR" altLang="en-US" dirty="0">
                <a:ea typeface="굴림" panose="020B0600000101010101" pitchFamily="50" charset="-127"/>
              </a:rPr>
              <a:t>   파형 디버깅 과정에서 내가 완전히 이해하지 못한 부분이 있었기에 </a:t>
            </a:r>
            <a:endParaRPr lang="en-US" altLang="ko-KR" dirty="0">
              <a:ea typeface="굴림" panose="020B0600000101010101" pitchFamily="50" charset="-127"/>
            </a:endParaRPr>
          </a:p>
          <a:p>
            <a:pPr marL="274320" lvl="1" indent="0">
              <a:buNone/>
            </a:pPr>
            <a:r>
              <a:rPr lang="ko-KR" altLang="en-US" dirty="0">
                <a:ea typeface="굴림" panose="020B0600000101010101" pitchFamily="50" charset="-127"/>
              </a:rPr>
              <a:t>   더 공부를 </a:t>
            </a:r>
            <a:r>
              <a:rPr lang="ko-KR" altLang="en-US" dirty="0" err="1">
                <a:ea typeface="굴림" panose="020B0600000101010101" pitchFamily="50" charset="-127"/>
              </a:rPr>
              <a:t>해야할</a:t>
            </a:r>
            <a:r>
              <a:rPr lang="ko-KR" altLang="en-US" dirty="0">
                <a:ea typeface="굴림" panose="020B0600000101010101" pitchFamily="50" charset="-127"/>
              </a:rPr>
              <a:t> 것으로 판단됨</a:t>
            </a:r>
            <a:r>
              <a:rPr lang="en-US" altLang="ko-KR" dirty="0"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C4C3497C-8CF4-45DF-9EB0-817D056A555E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0A6D855-F93F-32CB-81B1-3DB40F0AC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22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86AFECE-4EB3-9554-50CD-71E7C10F4E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320" y="6432550"/>
            <a:ext cx="1862034" cy="425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2C6E602-E3E2-72D9-8A92-3021DB9304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33" y="6432550"/>
            <a:ext cx="1134533" cy="42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44152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AD017-8D64-EAD0-8EF3-180D97CD3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310A7B-3854-EB70-235C-7A350CD02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23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6D8F673-C585-3743-12F0-59D49ACB8DFF}"/>
              </a:ext>
            </a:extLst>
          </p:cNvPr>
          <p:cNvSpPr txBox="1">
            <a:spLocks/>
          </p:cNvSpPr>
          <p:nvPr/>
        </p:nvSpPr>
        <p:spPr>
          <a:xfrm>
            <a:off x="2362200" y="2209800"/>
            <a:ext cx="7467600" cy="1930399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4400" dirty="0">
                <a:solidFill>
                  <a:schemeClr val="tx1"/>
                </a:solidFill>
              </a:rPr>
              <a:t>감사합니다</a:t>
            </a:r>
            <a:endParaRPr lang="en-US" altLang="ko-KR" sz="4400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49550EC-7123-12C1-FEE6-33F348739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320" y="6432550"/>
            <a:ext cx="1862034" cy="4254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FD7733D-7A60-99F9-3C77-ECDC28F309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33" y="6432550"/>
            <a:ext cx="1134533" cy="4254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63F742F-1538-6F5B-0A5A-E178733E6B69}"/>
              </a:ext>
            </a:extLst>
          </p:cNvPr>
          <p:cNvSpPr txBox="1"/>
          <p:nvPr/>
        </p:nvSpPr>
        <p:spPr>
          <a:xfrm>
            <a:off x="6705600" y="4953000"/>
            <a:ext cx="46878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박준영</a:t>
            </a:r>
            <a:b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</a:b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ETRI RTL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 교육 과정</a:t>
            </a:r>
            <a:b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</a:br>
            <a:r>
              <a:rPr lang="en-US" altLang="ko-KR" sz="2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korea.junyeong@gmail.com</a:t>
            </a:r>
            <a:endParaRPr lang="en-US" altLang="ko-KR" sz="200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247646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SimSun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MS PGothic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1476</TotalTime>
  <Words>360</Words>
  <Application>Microsoft Macintosh PowerPoint</Application>
  <PresentationFormat>와이드스크린</PresentationFormat>
  <Paragraphs>122</Paragraphs>
  <Slides>23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3" baseType="lpstr">
      <vt:lpstr>굴림</vt:lpstr>
      <vt:lpstr>돋움</vt:lpstr>
      <vt:lpstr>맑은 고딕</vt:lpstr>
      <vt:lpstr>Arial</vt:lpstr>
      <vt:lpstr>Bookman Old Style</vt:lpstr>
      <vt:lpstr>Calibri</vt:lpstr>
      <vt:lpstr>Gill Sans MT</vt:lpstr>
      <vt:lpstr>Wingdings</vt:lpstr>
      <vt:lpstr>Wingdings 3</vt:lpstr>
      <vt:lpstr>Origin</vt:lpstr>
      <vt:lpstr>박준영 ETRI RTL 교육 과정 korea.junyeong@gmail.com</vt:lpstr>
      <vt:lpstr>목차</vt:lpstr>
      <vt:lpstr>PowerPoint 프레젠테이션</vt:lpstr>
      <vt:lpstr>1. 개요</vt:lpstr>
      <vt:lpstr>1. 개요</vt:lpstr>
      <vt:lpstr>PowerPoint 프레젠테이션</vt:lpstr>
      <vt:lpstr>2. 설계</vt:lpstr>
      <vt:lpstr>2. 설계</vt:lpstr>
      <vt:lpstr>2. 설계</vt:lpstr>
      <vt:lpstr>2. 설계</vt:lpstr>
      <vt:lpstr>2. 설계</vt:lpstr>
      <vt:lpstr>2. 설계</vt:lpstr>
      <vt:lpstr>2. 설계</vt:lpstr>
      <vt:lpstr>2. 설계</vt:lpstr>
      <vt:lpstr>2. 설계</vt:lpstr>
      <vt:lpstr>PowerPoint 프레젠테이션</vt:lpstr>
      <vt:lpstr>3. 검증</vt:lpstr>
      <vt:lpstr>3. 검증</vt:lpstr>
      <vt:lpstr>3. 검증</vt:lpstr>
      <vt:lpstr>3. 검증</vt:lpstr>
      <vt:lpstr>PowerPoint 프레젠테이션</vt:lpstr>
      <vt:lpstr>4. 고찰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zhu;YongwooKim</dc:creator>
  <cp:lastModifiedBy>박준영</cp:lastModifiedBy>
  <cp:revision>1029</cp:revision>
  <dcterms:created xsi:type="dcterms:W3CDTF">2013-05-12T07:12:15Z</dcterms:created>
  <dcterms:modified xsi:type="dcterms:W3CDTF">2026-08-03T01:17:31Z</dcterms:modified>
  <cp:version/>
</cp:coreProperties>
</file>